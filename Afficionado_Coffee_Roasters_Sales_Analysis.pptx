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c2544b9-34f7-49a1-2792-297e5fad12ab}">
          <p14:sldIdLst>
            <p14:sldId id="256"/>
            <p14:sldId id="257"/>
            <p14:sldId id="258"/>
          </p14:sldIdLst>
        </p14:section>
        <p14:section name="Approach" id="{1a2ba1a6-c2de-ef8e-59b9-4fd1d71578bb}">
          <p14:sldIdLst>
            <p14:sldId id="259"/>
            <p14:sldId id="260"/>
            <p14:sldId id="261"/>
            <p14:sldId id="262"/>
          </p14:sldIdLst>
        </p14:section>
        <p14:section name="Delivery" id="{8ead2539-52b3-a3f1-c236-30f0ca6d6e54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8521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5852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0312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400800" y="-822960"/>
            <a:ext cx="4206240" cy="4206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7223760" y="2377440"/>
            <a:ext cx="2743200" cy="274320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1887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Sales Trend and Time-Based Performance Analysis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00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Afficionado Coffee Roasters  |  2025 transaction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timing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 specialty coffee retail, when sales occur matters as much as what is sold.</a:t>
            </a:r>
            <a:endParaRPr lang="en-US" sz="1600" dirty="0"/>
          </a:p>
        </p:txBody>
      </p:sp>
      <p:sp>
        <p:nvSpPr>
          <p:cNvPr id="4" name="Risk card 1"/>
          <p:cNvSpPr/>
          <p:nvPr/>
        </p:nvSpPr>
        <p:spPr>
          <a:xfrm>
            <a:off x="457200" y="173736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isk icon 1"/>
          <p:cNvSpPr txBox="1"/>
          <p:nvPr/>
        </p:nvSpPr>
        <p:spPr>
          <a:xfrm>
            <a:off x="685800" y="21214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Overstaffing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Labor cost spent on slow hours</a:t>
            </a:r>
            <a:endParaRPr lang="en-US" sz="1400" dirty="0"/>
          </a:p>
        </p:txBody>
      </p:sp>
      <p:sp>
        <p:nvSpPr>
          <p:cNvPr id="8" name="Risk card 2"/>
          <p:cNvSpPr/>
          <p:nvPr/>
        </p:nvSpPr>
        <p:spPr>
          <a:xfrm>
            <a:off x="4709160" y="173736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isk icon 2"/>
          <p:cNvSpPr txBox="1"/>
          <p:nvPr/>
        </p:nvSpPr>
        <p:spPr>
          <a:xfrm>
            <a:off x="4937760" y="21214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Understaffing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Queues and strain during rush periods</a:t>
            </a:r>
            <a:endParaRPr lang="en-US" sz="1400" dirty="0"/>
          </a:p>
        </p:txBody>
      </p:sp>
      <p:sp>
        <p:nvSpPr>
          <p:cNvPr id="12" name="Risk card 3"/>
          <p:cNvSpPr/>
          <p:nvPr/>
        </p:nvSpPr>
        <p:spPr>
          <a:xfrm>
            <a:off x="457200" y="320040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isk icon 3"/>
          <p:cNvSpPr txBox="1"/>
          <p:nvPr/>
        </p:nvSpPr>
        <p:spPr>
          <a:xfrm>
            <a:off x="685800" y="3584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≠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Inconsistent experience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Service quality varies through the day</a:t>
            </a:r>
            <a:endParaRPr lang="en-US" sz="1400" dirty="0"/>
          </a:p>
        </p:txBody>
      </p:sp>
      <p:sp>
        <p:nvSpPr>
          <p:cNvPr id="16" name="Risk card 4"/>
          <p:cNvSpPr/>
          <p:nvPr/>
        </p:nvSpPr>
        <p:spPr>
          <a:xfrm>
            <a:off x="4709160" y="320040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isk icon 4"/>
          <p:cNvSpPr txBox="1"/>
          <p:nvPr/>
        </p:nvSpPr>
        <p:spPr>
          <a:xfrm>
            <a:off x="4937760" y="3584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$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Inefficient costs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Hours and schedules out of step with demand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and objectives</a:t>
            </a:r>
            <a:endParaRPr lang="en-US" sz="3200" dirty="0"/>
          </a:p>
        </p:txBody>
      </p:sp>
      <p:sp>
        <p:nvSpPr>
          <p:cNvPr id="3" name="Problem band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gap: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transaction data exists, but there is no consolidated view of trends, peak and off-peak days, or hourly demand by store.</a:t>
            </a:r>
            <a:endParaRPr lang="en-US" sz="1500" dirty="0"/>
          </a:p>
        </p:txBody>
      </p:sp>
      <p:sp>
        <p:nvSpPr>
          <p:cNvPr id="5" name="Primary card"/>
          <p:cNvSpPr/>
          <p:nvPr/>
        </p:nvSpPr>
        <p:spPr>
          <a:xfrm>
            <a:off x="457200" y="2103120"/>
            <a:ext cx="3977640" cy="25603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Primary objectives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Identify overall sales trends across 2025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Determine busiest and slowest days of the week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Identify peak transaction hours</a:t>
            </a:r>
            <a:endParaRPr lang="en-US" sz="1500" dirty="0"/>
          </a:p>
        </p:txBody>
      </p:sp>
      <p:sp>
        <p:nvSpPr>
          <p:cNvPr id="8" name="Secondary card"/>
          <p:cNvSpPr/>
          <p:nvPr/>
        </p:nvSpPr>
        <p:spPr>
          <a:xfrm>
            <a:off x="4709160" y="2103120"/>
            <a:ext cx="39776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Secondary objectives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7889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demand patterns across store locations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Support staff scheduling and operational planning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Provide evidence-based explanations for patterns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dataset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3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3A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transaction_id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Unique ID per transaction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year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Transaction year (2025)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transaction_time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Time of sale (HH:MM:SS)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transaction_qty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Quantity purchased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unit_price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Price per unit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store_id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Store identifier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3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3A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store_location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Physical store location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product_id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Unique product ID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product_category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Broad product group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product_type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Variant within category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4"/>
                          </a:solidFill>
                        </a:rPr>
                        <a:t>product_detail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4"/>
                          </a:solidFill>
                        </a:rPr>
                        <a:t>Flavor or blend attributes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EE"/>
                    </a:solidFill>
                  </a:tcPr>
                </a:tc>
              </a:tr>
            </a:tbl>
          </a:graphicData>
        </a:graphic>
      </p:graphicFrame>
      <p:sp>
        <p:nvSpPr>
          <p:cNvPr id="5" name="Dataset callout"/>
          <p:cNvSpPr/>
          <p:nvPr/>
        </p:nvSpPr>
        <p:spPr>
          <a:xfrm>
            <a:off x="4663440" y="41605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4632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Transaction-level data, one row per sale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Analytical methodology</a:t>
            </a:r>
            <a:endParaRPr lang="en-US" sz="3200" dirty="0"/>
          </a:p>
        </p:txBody>
      </p:sp>
      <p:sp>
        <p:nvSpPr>
          <p:cNvPr id="3" name="Step row 1"/>
          <p:cNvSpPr/>
          <p:nvPr/>
        </p:nvSpPr>
        <p:spPr>
          <a:xfrm>
            <a:off x="457200" y="1188720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566928" y="12527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Ingest and validate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188720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Validate timestamps, IDs, quantities and prices</a:t>
            </a:r>
            <a:endParaRPr lang="en-US" sz="1400" dirty="0"/>
          </a:p>
        </p:txBody>
      </p:sp>
      <p:sp>
        <p:nvSpPr>
          <p:cNvPr id="7" name="Step row 2"/>
          <p:cNvSpPr/>
          <p:nvPr/>
        </p:nvSpPr>
        <p:spPr>
          <a:xfrm>
            <a:off x="457200" y="1773936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566928" y="18379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7739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Engineer features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773936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Derive revenue, hour, weekday and time buckets</a:t>
            </a:r>
            <a:endParaRPr lang="en-US" sz="1400" dirty="0"/>
          </a:p>
        </p:txBody>
      </p:sp>
      <p:sp>
        <p:nvSpPr>
          <p:cNvPr id="11" name="Step row 3"/>
          <p:cNvSpPr/>
          <p:nvPr/>
        </p:nvSpPr>
        <p:spPr>
          <a:xfrm>
            <a:off x="457200" y="2359152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number 3"/>
          <p:cNvSpPr txBox="1"/>
          <p:nvPr/>
        </p:nvSpPr>
        <p:spPr>
          <a:xfrm>
            <a:off x="566928" y="2423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35915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Sales trends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359152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Daily and weekly revenue, store-level trends</a:t>
            </a:r>
            <a:endParaRPr lang="en-US" sz="1400" dirty="0"/>
          </a:p>
        </p:txBody>
      </p:sp>
      <p:sp>
        <p:nvSpPr>
          <p:cNvPr id="15" name="Step row 4"/>
          <p:cNvSpPr/>
          <p:nvPr/>
        </p:nvSpPr>
        <p:spPr>
          <a:xfrm>
            <a:off x="457200" y="2944368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tep number 4"/>
          <p:cNvSpPr txBox="1"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4436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Day-of-week performance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944368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Avg revenue and orders; weekday vs weekend</a:t>
            </a:r>
            <a:endParaRPr lang="en-US" sz="1400" dirty="0"/>
          </a:p>
        </p:txBody>
      </p:sp>
      <p:sp>
        <p:nvSpPr>
          <p:cNvPr id="19" name="Step row 5"/>
          <p:cNvSpPr/>
          <p:nvPr/>
        </p:nvSpPr>
        <p:spPr>
          <a:xfrm>
            <a:off x="457200" y="3529584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number 5"/>
          <p:cNvSpPr txBox="1"/>
          <p:nvPr/>
        </p:nvSpPr>
        <p:spPr>
          <a:xfrm>
            <a:off x="566928" y="35935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52958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Time-of-day demand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529584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Hourly volume and revenue curves; rush periods</a:t>
            </a:r>
            <a:endParaRPr lang="en-US" sz="1400" dirty="0"/>
          </a:p>
        </p:txBody>
      </p:sp>
      <p:sp>
        <p:nvSpPr>
          <p:cNvPr id="23" name="Step row 6"/>
          <p:cNvSpPr/>
          <p:nvPr/>
        </p:nvSpPr>
        <p:spPr>
          <a:xfrm>
            <a:off x="457200" y="4114800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Step number 6"/>
          <p:cNvSpPr txBox="1"/>
          <p:nvPr/>
        </p:nvSpPr>
        <p:spPr>
          <a:xfrm>
            <a:off x="566928" y="4178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11480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Cross-location comparison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114800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Hourly heatmaps and peak-hour alignment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Temporal feature engineering</a:t>
            </a:r>
            <a:endParaRPr lang="en-US" sz="3200" dirty="0"/>
          </a:p>
        </p:txBody>
      </p:sp>
      <p:sp>
        <p:nvSpPr>
          <p:cNvPr id="3" name="Revenue card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Revenue per transaction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transaction_qty × unit_price</a:t>
            </a:r>
            <a:endParaRPr lang="en-US" sz="1800" dirty="0"/>
          </a:p>
        </p:txBody>
      </p:sp>
      <p:sp>
        <p:nvSpPr>
          <p:cNvPr id="6" name="Hour card"/>
          <p:cNvSpPr/>
          <p:nvPr/>
        </p:nvSpPr>
        <p:spPr>
          <a:xfrm>
            <a:off x="4663440" y="1188720"/>
            <a:ext cx="2011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0–23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 of day</a:t>
            </a:r>
            <a:endParaRPr lang="en-US" sz="1400" dirty="0"/>
          </a:p>
        </p:txBody>
      </p:sp>
      <p:sp>
        <p:nvSpPr>
          <p:cNvPr id="9" name="Weekday card"/>
          <p:cNvSpPr/>
          <p:nvPr/>
        </p:nvSpPr>
        <p:spPr>
          <a:xfrm>
            <a:off x="6858000" y="118872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Mon–Sun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 of week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Time buckets</a:t>
            </a:r>
            <a:endParaRPr lang="en-US" sz="2000" dirty="0"/>
          </a:p>
        </p:txBody>
      </p:sp>
      <p:sp>
        <p:nvSpPr>
          <p:cNvPr id="13" name="Bucket Morning"/>
          <p:cNvSpPr/>
          <p:nvPr/>
        </p:nvSpPr>
        <p:spPr>
          <a:xfrm>
            <a:off x="45720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6–11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Morning</a:t>
            </a:r>
            <a:endParaRPr lang="en-US" sz="1600" dirty="0"/>
          </a:p>
        </p:txBody>
      </p:sp>
      <p:sp>
        <p:nvSpPr>
          <p:cNvPr id="16" name="Bucket Afternoon"/>
          <p:cNvSpPr/>
          <p:nvPr/>
        </p:nvSpPr>
        <p:spPr>
          <a:xfrm>
            <a:off x="256032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12–16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Afternoon</a:t>
            </a:r>
            <a:endParaRPr lang="en-US" sz="1600" dirty="0"/>
          </a:p>
        </p:txBody>
      </p:sp>
      <p:sp>
        <p:nvSpPr>
          <p:cNvPr id="19" name="Bucket Evening"/>
          <p:cNvSpPr/>
          <p:nvPr/>
        </p:nvSpPr>
        <p:spPr>
          <a:xfrm>
            <a:off x="466344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17–21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Evening</a:t>
            </a:r>
            <a:endParaRPr lang="en-US" sz="1600" dirty="0"/>
          </a:p>
        </p:txBody>
      </p:sp>
      <p:sp>
        <p:nvSpPr>
          <p:cNvPr id="22" name="Bucket Late hours"/>
          <p:cNvSpPr/>
          <p:nvPr/>
        </p:nvSpPr>
        <p:spPr>
          <a:xfrm>
            <a:off x="676656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22–5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Late hours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analysis covers</a:t>
            </a:r>
            <a:endParaRPr lang="en-US" sz="32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188720"/>
            <a:ext cx="1920240" cy="34747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marker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Sales trends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Daily revenue trends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Weekly revenue and transactions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Store-level comparison</a:t>
            </a:r>
            <a:endParaRPr lang="en-US" sz="1400" dirty="0"/>
          </a:p>
        </p:txBody>
      </p:sp>
      <p:sp>
        <p:nvSpPr>
          <p:cNvPr id="7" name="Module card 2"/>
          <p:cNvSpPr/>
          <p:nvPr/>
        </p:nvSpPr>
        <p:spPr>
          <a:xfrm>
            <a:off x="2560320" y="1188720"/>
            <a:ext cx="1920240" cy="34747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dule marker 2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Day of week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46888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Avg revenue by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Avg transactions by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Weekday vs weekend</a:t>
            </a:r>
            <a:endParaRPr lang="en-US" sz="1400" dirty="0"/>
          </a:p>
        </p:txBody>
      </p:sp>
      <p:sp>
        <p:nvSpPr>
          <p:cNvPr id="11" name="Module card 3"/>
          <p:cNvSpPr/>
          <p:nvPr/>
        </p:nvSpPr>
        <p:spPr>
          <a:xfrm>
            <a:off x="4663440" y="1188720"/>
            <a:ext cx="1920240" cy="34747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dule marker 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of day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46888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Hourly volume curves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Hourly revenue split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Morning rush, midday lull, evening peak</a:t>
            </a:r>
            <a:endParaRPr lang="en-US" sz="1400" dirty="0"/>
          </a:p>
        </p:txBody>
      </p:sp>
      <p:sp>
        <p:nvSpPr>
          <p:cNvPr id="15" name="Module card 4"/>
          <p:cNvSpPr/>
          <p:nvPr/>
        </p:nvSpPr>
        <p:spPr>
          <a:xfrm>
            <a:off x="6766560" y="1188720"/>
            <a:ext cx="1920240" cy="34747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odule marker 4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Cross-location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46888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Hourly heatmaps per store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Peak-hour alignment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Location-specific behavior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Streamlit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Core modules</a:t>
            </a:r>
            <a:endParaRPr lang="en-US" sz="2000" dirty="0"/>
          </a:p>
        </p:txBody>
      </p:sp>
      <p:sp>
        <p:nvSpPr>
          <p:cNvPr id="4" name="Module tile 1"/>
          <p:cNvSpPr/>
          <p:nvPr/>
        </p:nvSpPr>
        <p:spPr>
          <a:xfrm>
            <a:off x="45720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Overall sales trend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Daily and weekly revenue</a:t>
            </a:r>
            <a:endParaRPr lang="en-US" sz="1400" dirty="0"/>
          </a:p>
        </p:txBody>
      </p:sp>
      <p:sp>
        <p:nvSpPr>
          <p:cNvPr id="7" name="Module tile 2"/>
          <p:cNvSpPr/>
          <p:nvPr/>
        </p:nvSpPr>
        <p:spPr>
          <a:xfrm>
            <a:off x="301752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Day-of-week charts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Revenue and orders by day</a:t>
            </a:r>
            <a:endParaRPr lang="en-US" sz="1400" dirty="0"/>
          </a:p>
        </p:txBody>
      </p:sp>
      <p:sp>
        <p:nvSpPr>
          <p:cNvPr id="10" name="Module tile 3"/>
          <p:cNvSpPr/>
          <p:nvPr/>
        </p:nvSpPr>
        <p:spPr>
          <a:xfrm>
            <a:off x="457200" y="315468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Hourly heatmaps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Hour-by-day intensity per store</a:t>
            </a:r>
            <a:endParaRPr lang="en-US" sz="1400" dirty="0"/>
          </a:p>
        </p:txBody>
      </p:sp>
      <p:sp>
        <p:nvSpPr>
          <p:cNvPr id="13" name="Module tile 4"/>
          <p:cNvSpPr/>
          <p:nvPr/>
        </p:nvSpPr>
        <p:spPr>
          <a:xfrm>
            <a:off x="3017520" y="315468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Location comparison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Side-by-side store panels</a:t>
            </a:r>
            <a:endParaRPr lang="en-US" sz="1400" dirty="0"/>
          </a:p>
        </p:txBody>
      </p:sp>
      <p:sp>
        <p:nvSpPr>
          <p:cNvPr id="16" name="Control panel"/>
          <p:cNvSpPr/>
          <p:nvPr/>
        </p:nvSpPr>
        <p:spPr>
          <a:xfrm>
            <a:off x="5669280" y="1097280"/>
            <a:ext cx="3017520" cy="356616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Sidebar controls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Store location filter</a:t>
            </a:r>
            <a:endParaRPr lang="en-US" sz="1400" dirty="0"/>
          </a:p>
        </p:txBody>
      </p:sp>
      <p:sp>
        <p:nvSpPr>
          <p:cNvPr id="19" name="Control track 1"/>
          <p:cNvSpPr/>
          <p:nvPr/>
        </p:nvSpPr>
        <p:spPr>
          <a:xfrm>
            <a:off x="5897880" y="2167128"/>
            <a:ext cx="2560320" cy="1097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Control knob 1"/>
          <p:cNvSpPr/>
          <p:nvPr/>
        </p:nvSpPr>
        <p:spPr>
          <a:xfrm>
            <a:off x="6702552" y="212140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Day-of-week selector</a:t>
            </a:r>
            <a:endParaRPr lang="en-US" sz="1400" dirty="0"/>
          </a:p>
        </p:txBody>
      </p:sp>
      <p:sp>
        <p:nvSpPr>
          <p:cNvPr id="22" name="Control track 2"/>
          <p:cNvSpPr/>
          <p:nvPr/>
        </p:nvSpPr>
        <p:spPr>
          <a:xfrm>
            <a:off x="5897880" y="2898648"/>
            <a:ext cx="2560320" cy="1097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Control knob 2"/>
          <p:cNvSpPr/>
          <p:nvPr/>
        </p:nvSpPr>
        <p:spPr>
          <a:xfrm>
            <a:off x="7342632" y="28529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9788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Hour-range slider</a:t>
            </a:r>
            <a:endParaRPr lang="en-US" sz="1400" dirty="0"/>
          </a:p>
        </p:txBody>
      </p:sp>
      <p:sp>
        <p:nvSpPr>
          <p:cNvPr id="25" name="Control track 3"/>
          <p:cNvSpPr/>
          <p:nvPr/>
        </p:nvSpPr>
        <p:spPr>
          <a:xfrm>
            <a:off x="5897880" y="3630168"/>
            <a:ext cx="2560320" cy="1097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Control knob 3"/>
          <p:cNvSpPr/>
          <p:nvPr/>
        </p:nvSpPr>
        <p:spPr>
          <a:xfrm>
            <a:off x="6958584" y="3584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Revenue vs quantity toggle</a:t>
            </a:r>
            <a:endParaRPr lang="en-US" sz="1400" dirty="0"/>
          </a:p>
        </p:txBody>
      </p:sp>
      <p:sp>
        <p:nvSpPr>
          <p:cNvPr id="28" name="Control track 4"/>
          <p:cNvSpPr/>
          <p:nvPr/>
        </p:nvSpPr>
        <p:spPr>
          <a:xfrm>
            <a:off x="5897880" y="4361688"/>
            <a:ext cx="2560320" cy="1097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Control knob 4"/>
          <p:cNvSpPr/>
          <p:nvPr/>
        </p:nvSpPr>
        <p:spPr>
          <a:xfrm>
            <a:off x="7854696" y="43159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Deliverables</a:t>
            </a:r>
            <a:endParaRPr lang="en-US" sz="3200" dirty="0"/>
          </a:p>
        </p:txBody>
      </p:sp>
      <p:sp>
        <p:nvSpPr>
          <p:cNvPr id="3" name="Deliverable card 1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 paper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EDA, insights and recommendations</a:t>
            </a:r>
            <a:endParaRPr lang="en-US" sz="1500" dirty="0"/>
          </a:p>
        </p:txBody>
      </p:sp>
      <p:sp>
        <p:nvSpPr>
          <p:cNvPr id="7" name="Deliverable card 2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Streamlit dashboard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Live analytics with filters and heatmaps</a:t>
            </a:r>
            <a:endParaRPr lang="en-US" sz="1500" dirty="0"/>
          </a:p>
        </p:txBody>
      </p:sp>
      <p:sp>
        <p:nvSpPr>
          <p:cNvPr id="11" name="Deliverable card 3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Executive summary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Clear findings for government stakeholders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949440" y="-1097280"/>
            <a:ext cx="4023360" cy="40233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Evidence-based staffing, not intuition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1031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Clear patterns across days, hours and locations give management actionable insight.</a:t>
            </a:r>
            <a:endParaRPr lang="en-US" sz="1800" dirty="0"/>
          </a:p>
        </p:txBody>
      </p:sp>
      <p:sp>
        <p:nvSpPr>
          <p:cNvPr id="5" name="Outcome 1"/>
          <p:cNvSpPr txBox="1"/>
          <p:nvPr/>
        </p:nvSpPr>
        <p:spPr>
          <a:xfrm>
            <a:off x="548640" y="33832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Staffing efficiency</a:t>
            </a:r>
            <a:endParaRPr lang="en-US" sz="1800" dirty="0"/>
          </a:p>
        </p:txBody>
      </p:sp>
      <p:sp>
        <p:nvSpPr>
          <p:cNvPr id="6" name="Outcome 2"/>
          <p:cNvSpPr txBox="1"/>
          <p:nvPr/>
        </p:nvSpPr>
        <p:spPr>
          <a:xfrm>
            <a:off x="3291840" y="33832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Operational planning</a:t>
            </a:r>
            <a:endParaRPr lang="en-US" sz="1800" dirty="0"/>
          </a:p>
        </p:txBody>
      </p:sp>
      <p:sp>
        <p:nvSpPr>
          <p:cNvPr id="7" name="Outcome 3"/>
          <p:cNvSpPr txBox="1"/>
          <p:nvPr/>
        </p:nvSpPr>
        <p:spPr>
          <a:xfrm>
            <a:off x="6035040" y="33832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Retail performance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st">
  <a:themeElements>
    <a:clrScheme name="Roast">
      <a:dk1>
        <a:srgbClr val="2B1B14"/>
      </a:dk1>
      <a:lt1>
        <a:srgbClr val="FFFFFF"/>
      </a:lt1>
      <a:dk2>
        <a:srgbClr val="5A3A29"/>
      </a:dk2>
      <a:lt2>
        <a:srgbClr val="F3F0EE"/>
      </a:lt2>
      <a:accent1>
        <a:srgbClr val="C8843F"/>
      </a:accent1>
      <a:accent2>
        <a:srgbClr val="7A4B2E"/>
      </a:accent2>
      <a:accent3>
        <a:srgbClr val="3F7F6B"/>
      </a:accent3>
      <a:accent4>
        <a:srgbClr val="E3C29B"/>
      </a:accent4>
      <a:accent5>
        <a:srgbClr val="A63D2F"/>
      </a:accent5>
      <a:accent6>
        <a:srgbClr val="8C8C8C"/>
      </a:accent6>
      <a:hlink>
        <a:srgbClr val="C8843F"/>
      </a:hlink>
      <a:folHlink>
        <a:srgbClr val="7A4B2E"/>
      </a:folHlink>
    </a:clrScheme>
    <a:fontScheme name="Ro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Trend and Time-Based Performance Analysis</dc:title>
  <dc:subject>PptxGenJS Presentation</dc:subject>
  <dc:creator>PptxGenJS</dc:creator>
  <cp:lastModifiedBy>PptxGenJS</cp:lastModifiedBy>
  <cp:revision>1</cp:revision>
  <dcterms:created xsi:type="dcterms:W3CDTF">2026-10-03T13:00:07Z</dcterms:created>
  <dcterms:modified xsi:type="dcterms:W3CDTF">2026-10-03T13:00:07Z</dcterms:modified>
</cp:coreProperties>
</file>